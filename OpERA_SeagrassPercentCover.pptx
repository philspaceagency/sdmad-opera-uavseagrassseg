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7B1E-285E-CAE5-360C-C2E0546AF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F261A-E3D4-91AC-84EE-237F7F4C9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2DBE1-A069-0692-265F-F5ED0A1E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088EF-5424-C655-03F7-B606E5C4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AD778-EF08-E650-BB1F-62EE6688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644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20ED-E0F2-4D96-D4E7-4699463F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5DF3D-5674-632D-5BC4-08210B308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21F90-9304-3576-083D-5E2722B6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44AA9-A316-8DA8-5F56-EB5BE6FE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15B79-279B-701C-7560-158B5AF3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27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EF0D-2595-D5C4-100C-44C412AE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AE294-6D6F-1BDD-F756-9CFB91E4F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A4581-BE86-0FE2-3218-3E3D541B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48335-1A38-4DBC-6A45-B13B5DD4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E8C77-08CF-F601-81D5-FA07D653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330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DA2A-D12B-AEB0-F17C-3CF51A32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DE010-B797-5786-1522-1FD7FE31F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C9218-046B-CBC6-7BCA-2D8288AF6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F7B30-540A-8C82-618B-7B41F7BD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4E3E-C5DC-DC0F-47DA-3C8D6043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77478-C6F2-495F-6BE8-5BD165D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2845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6DF7-F210-BC60-48B1-6A20E5A9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E605E-B17F-3B19-B3B1-5733E0AFB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47F9A-5B9D-67CF-03FA-5A3C655A5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09AAA-B439-A7E3-2490-271AE5284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54653-3386-1634-932D-77EFE2AB9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BCBBB-D3DD-B42B-7C71-BABFA1666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0602F-290E-9B95-05BA-B2A7C24B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226D0C-DE79-D4C9-9118-FE8A6A7E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824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0A32-F4D0-6A12-CFFF-7942E01E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308B5-EFF6-7341-F955-3BF62A18E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1A60C-A0EF-AE26-434E-7B4E7C4A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8A528-06C1-CE30-2F3F-FC9DA1F0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1422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2F20B-B716-CAB7-5FF6-523FDBA4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0DC6-6A20-5042-0DAA-2019FAA5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D9C7F-657F-32E3-AF5F-B23A00A3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742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B078-315D-9C74-189E-F81B71D9E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EFB5-9083-8CD8-2A17-20AA6410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05035-E5B6-E264-6C6D-A761F3D43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689C9-9A0E-46FA-FAE9-3F3223C8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A0422-7DFC-A002-AC99-9D0015F1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F9AE2-2AA9-7D4B-453E-B8078A79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740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BB44-5604-331D-BD65-41E7AE5C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9F2381-80B0-CE79-5362-9CA6AEEAF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F557B-83DF-C745-49EB-0109F0D4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CEADF-6208-A534-78F7-A3595301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9EC43-2A32-C1EC-7BF6-06D72820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9AC1D-D73A-3729-D922-1D1C4601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732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2A23-9613-DF95-161D-CC85ED97C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8D174-49D0-E3F3-CA9B-1453FF7D2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EE59B-23B0-593E-FB3D-206D1C7B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044E9-3F89-C40E-C22F-FAC017CC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4C8CD-3BF6-5A75-9220-C142446D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163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18091B-3058-3AE3-F533-2E37D2B9E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4C80F-DABD-F4A8-3D99-77021F317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6FC95-2A27-AFD8-168A-D055F4FE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D8C64-E2D5-9CC3-4548-06E6E0C1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2F4D9-E0CC-C53F-3DA1-9109DA5B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2260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71422-D6F7-C867-AD9D-81F28432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4D614-2219-3852-AEA3-39DCDD7CE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7F5B0-DFE8-AE6A-D885-AC4B878DB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8BF78-0A15-4989-88DB-5599CA4ADC5D}" type="datetimeFigureOut">
              <a:rPr lang="en-PH" smtClean="0"/>
              <a:t>03/05/2026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DD06-A92E-F86F-DC16-01486B801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5EE29-EEA6-F169-053E-D1BEAFE93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9BD4E-CDFC-4C27-8A4F-9996433281F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7042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056097-56C9-C8A9-8F50-E8D3C882D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EF38A3-50BA-4256-42F1-844DF9C81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dirty="0">
                <a:latin typeface="+mn-lt"/>
              </a:rPr>
              <a:t>Seagrass Cover using Drone Imagery</a:t>
            </a:r>
            <a:endParaRPr lang="en-PH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534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1C64-7009-7620-C5BC-3C01D5677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DC9F89-CDD9-C134-31D0-B5A8DF0A19E1}"/>
              </a:ext>
            </a:extLst>
          </p:cNvPr>
          <p:cNvSpPr/>
          <p:nvPr/>
        </p:nvSpPr>
        <p:spPr>
          <a:xfrm>
            <a:off x="0" y="0"/>
            <a:ext cx="12192000" cy="131752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174F9-44FA-2B77-33C2-F65F800BA5FE}"/>
              </a:ext>
            </a:extLst>
          </p:cNvPr>
          <p:cNvSpPr txBox="1"/>
          <p:nvPr/>
        </p:nvSpPr>
        <p:spPr>
          <a:xfrm>
            <a:off x="766917" y="304818"/>
            <a:ext cx="2969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Outline</a:t>
            </a:r>
            <a:endParaRPr lang="en-PH" sz="4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060711-A94C-AD69-AC3E-B660F271C483}"/>
              </a:ext>
            </a:extLst>
          </p:cNvPr>
          <p:cNvGrpSpPr/>
          <p:nvPr/>
        </p:nvGrpSpPr>
        <p:grpSpPr>
          <a:xfrm>
            <a:off x="825910" y="3103095"/>
            <a:ext cx="1800000" cy="1457718"/>
            <a:chOff x="1265341" y="2246767"/>
            <a:chExt cx="1800000" cy="145771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35B1A11-18E2-E8AD-2AFC-4DE3525D964F}"/>
                </a:ext>
              </a:extLst>
            </p:cNvPr>
            <p:cNvSpPr/>
            <p:nvPr/>
          </p:nvSpPr>
          <p:spPr>
            <a:xfrm>
              <a:off x="1265341" y="2246767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1" name="Graphic 10" descr="Quadcopter with solid fill">
              <a:extLst>
                <a:ext uri="{FF2B5EF4-FFF2-40B4-BE49-F238E27FC236}">
                  <a16:creationId xmlns:a16="http://schemas.microsoft.com/office/drawing/2014/main" id="{C7A6F8AD-A59C-8D8C-218D-DA31579367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45341" y="2264485"/>
              <a:ext cx="1440000" cy="14400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514D374-DBB1-166E-D454-816D2CE8C973}"/>
              </a:ext>
            </a:extLst>
          </p:cNvPr>
          <p:cNvSpPr txBox="1"/>
          <p:nvPr/>
        </p:nvSpPr>
        <p:spPr>
          <a:xfrm>
            <a:off x="766917" y="4661101"/>
            <a:ext cx="2015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DRONE DATASET</a:t>
            </a:r>
            <a:endParaRPr lang="en-PH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492A072-8F9E-BE8B-2B39-B61ED3891E92}"/>
              </a:ext>
            </a:extLst>
          </p:cNvPr>
          <p:cNvSpPr/>
          <p:nvPr/>
        </p:nvSpPr>
        <p:spPr>
          <a:xfrm>
            <a:off x="9561443" y="3114664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929A01-DE67-CD43-3B5B-F153515860B4}"/>
              </a:ext>
            </a:extLst>
          </p:cNvPr>
          <p:cNvSpPr txBox="1"/>
          <p:nvPr/>
        </p:nvSpPr>
        <p:spPr>
          <a:xfrm>
            <a:off x="9463044" y="4690388"/>
            <a:ext cx="201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PERCENT COVER CALCULATION</a:t>
            </a:r>
            <a:endParaRPr lang="en-PH" b="1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66373C8-F2F8-507B-4C0F-5CFA3E1EAAAE}"/>
              </a:ext>
            </a:extLst>
          </p:cNvPr>
          <p:cNvGrpSpPr/>
          <p:nvPr/>
        </p:nvGrpSpPr>
        <p:grpSpPr>
          <a:xfrm>
            <a:off x="7391090" y="3100761"/>
            <a:ext cx="1800000" cy="1440000"/>
            <a:chOff x="7130014" y="2844588"/>
            <a:chExt cx="1800000" cy="144000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9211141-BFBF-523D-0436-7C1C1AD78948}"/>
                </a:ext>
              </a:extLst>
            </p:cNvPr>
            <p:cNvSpPr/>
            <p:nvPr/>
          </p:nvSpPr>
          <p:spPr>
            <a:xfrm>
              <a:off x="7130014" y="2844588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4FABB9D-0221-664F-3ACD-66F65CFCC178}"/>
                </a:ext>
              </a:extLst>
            </p:cNvPr>
            <p:cNvGrpSpPr/>
            <p:nvPr/>
          </p:nvGrpSpPr>
          <p:grpSpPr>
            <a:xfrm>
              <a:off x="7645007" y="3174873"/>
              <a:ext cx="770014" cy="708557"/>
              <a:chOff x="7280787" y="4348041"/>
              <a:chExt cx="770014" cy="708557"/>
            </a:xfrm>
          </p:grpSpPr>
          <p:pic>
            <p:nvPicPr>
              <p:cNvPr id="24" name="Graphic 23" descr="Stop with solid fill">
                <a:extLst>
                  <a:ext uri="{FF2B5EF4-FFF2-40B4-BE49-F238E27FC236}">
                    <a16:creationId xmlns:a16="http://schemas.microsoft.com/office/drawing/2014/main" id="{FAFE8963-6AB2-0A31-AAE6-87ECB06B5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80787" y="4348041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25" name="Graphic 24" descr="Stop with solid fill">
                <a:extLst>
                  <a:ext uri="{FF2B5EF4-FFF2-40B4-BE49-F238E27FC236}">
                    <a16:creationId xmlns:a16="http://schemas.microsoft.com/office/drawing/2014/main" id="{445C3371-42E4-3EA2-C4EC-195CA9632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0801" y="4348041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26" name="Graphic 25" descr="Stop with solid fill">
                <a:extLst>
                  <a:ext uri="{FF2B5EF4-FFF2-40B4-BE49-F238E27FC236}">
                    <a16:creationId xmlns:a16="http://schemas.microsoft.com/office/drawing/2014/main" id="{B50131FD-5975-39B9-5B98-7FFD1301F8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80787" y="469659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27" name="Graphic 26" descr="Stop with solid fill">
                <a:extLst>
                  <a:ext uri="{FF2B5EF4-FFF2-40B4-BE49-F238E27FC236}">
                    <a16:creationId xmlns:a16="http://schemas.microsoft.com/office/drawing/2014/main" id="{B909A221-49A3-1967-BBDE-3A1A814A51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90801" y="4696598"/>
                <a:ext cx="360000" cy="360000"/>
              </a:xfrm>
              <a:prstGeom prst="rect">
                <a:avLst/>
              </a:prstGeom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7FB85B0-628B-352B-75A8-010D429FE599}"/>
              </a:ext>
            </a:extLst>
          </p:cNvPr>
          <p:cNvSpPr txBox="1"/>
          <p:nvPr/>
        </p:nvSpPr>
        <p:spPr>
          <a:xfrm>
            <a:off x="7275888" y="4676484"/>
            <a:ext cx="201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GRID GENERATION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0E80585-C85C-F0EE-DB9B-A7FE22F2B380}"/>
              </a:ext>
            </a:extLst>
          </p:cNvPr>
          <p:cNvGrpSpPr/>
          <p:nvPr/>
        </p:nvGrpSpPr>
        <p:grpSpPr>
          <a:xfrm>
            <a:off x="3009382" y="3100761"/>
            <a:ext cx="1800000" cy="1440000"/>
            <a:chOff x="7350847" y="3113952"/>
            <a:chExt cx="1800000" cy="14400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F0180D3-9EF2-D663-011A-6907622EBEB8}"/>
                </a:ext>
              </a:extLst>
            </p:cNvPr>
            <p:cNvSpPr/>
            <p:nvPr/>
          </p:nvSpPr>
          <p:spPr>
            <a:xfrm>
              <a:off x="7350847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39" name="Graphic 38" descr="Gears with solid fill">
              <a:extLst>
                <a:ext uri="{FF2B5EF4-FFF2-40B4-BE49-F238E27FC236}">
                  <a16:creationId xmlns:a16="http://schemas.microsoft.com/office/drawing/2014/main" id="{9073B932-9B18-FA0C-2B0E-219A3D0043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20847" y="3239388"/>
              <a:ext cx="1260000" cy="1260000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FCB87EA-440A-C7CD-4646-C20BF12C1C04}"/>
              </a:ext>
            </a:extLst>
          </p:cNvPr>
          <p:cNvSpPr txBox="1"/>
          <p:nvPr/>
        </p:nvSpPr>
        <p:spPr>
          <a:xfrm>
            <a:off x="2901576" y="4676484"/>
            <a:ext cx="201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</a:t>
            </a:r>
            <a:r>
              <a:rPr lang="en-PH" b="1" dirty="0"/>
              <a:t>TRAINING</a:t>
            </a:r>
            <a:endParaRPr lang="en-US" b="1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C2B1642-D1D8-C5B3-1254-6AFE9D6831A7}"/>
              </a:ext>
            </a:extLst>
          </p:cNvPr>
          <p:cNvGrpSpPr/>
          <p:nvPr/>
        </p:nvGrpSpPr>
        <p:grpSpPr>
          <a:xfrm>
            <a:off x="5167441" y="3114664"/>
            <a:ext cx="1800000" cy="1440000"/>
            <a:chOff x="9683433" y="3113952"/>
            <a:chExt cx="1800000" cy="144000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D9FE792-1CA0-B740-7589-346BBF991385}"/>
                </a:ext>
              </a:extLst>
            </p:cNvPr>
            <p:cNvSpPr/>
            <p:nvPr/>
          </p:nvSpPr>
          <p:spPr>
            <a:xfrm>
              <a:off x="9683433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2" name="Rectangle 41" descr="Head with Gears">
              <a:extLst>
                <a:ext uri="{FF2B5EF4-FFF2-40B4-BE49-F238E27FC236}">
                  <a16:creationId xmlns:a16="http://schemas.microsoft.com/office/drawing/2014/main" id="{C30D2BB8-2757-29B8-65D3-619160C86F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39099" y="3293952"/>
              <a:ext cx="1080000" cy="108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PH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83FFB47-C8D8-19A8-7BDD-923756BAC141}"/>
              </a:ext>
            </a:extLst>
          </p:cNvPr>
          <p:cNvSpPr txBox="1"/>
          <p:nvPr/>
        </p:nvSpPr>
        <p:spPr>
          <a:xfrm>
            <a:off x="5088732" y="4690387"/>
            <a:ext cx="201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</a:t>
            </a:r>
            <a:r>
              <a:rPr lang="en-PH" b="1" dirty="0"/>
              <a:t>INFERENCE</a:t>
            </a:r>
            <a:endParaRPr lang="en-US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6B3F60-38A2-6FDA-8054-C5DA4C73D22C}"/>
              </a:ext>
            </a:extLst>
          </p:cNvPr>
          <p:cNvSpPr/>
          <p:nvPr/>
        </p:nvSpPr>
        <p:spPr>
          <a:xfrm>
            <a:off x="2869559" y="2282006"/>
            <a:ext cx="4234785" cy="3500284"/>
          </a:xfrm>
          <a:prstGeom prst="roundRect">
            <a:avLst>
              <a:gd name="adj" fmla="val 102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6B700-0C08-EB85-08DF-A12D2CD142F8}"/>
              </a:ext>
            </a:extLst>
          </p:cNvPr>
          <p:cNvSpPr txBox="1"/>
          <p:nvPr/>
        </p:nvSpPr>
        <p:spPr>
          <a:xfrm>
            <a:off x="3615359" y="2071279"/>
            <a:ext cx="260365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SEGMENTATION</a:t>
            </a:r>
          </a:p>
        </p:txBody>
      </p:sp>
      <p:pic>
        <p:nvPicPr>
          <p:cNvPr id="5" name="Graphic 4" descr="Seaweed with solid fill">
            <a:extLst>
              <a:ext uri="{FF2B5EF4-FFF2-40B4-BE49-F238E27FC236}">
                <a16:creationId xmlns:a16="http://schemas.microsoft.com/office/drawing/2014/main" id="{85E88A7B-57B3-A0D5-C71F-9AD3A98D6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2708" y="3342619"/>
            <a:ext cx="956283" cy="95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5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EE0E-7758-54AF-8DBB-676F32DB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E9B7C34-38C9-6BDF-6FD9-5FD7076DE6CC}"/>
              </a:ext>
            </a:extLst>
          </p:cNvPr>
          <p:cNvGrpSpPr/>
          <p:nvPr/>
        </p:nvGrpSpPr>
        <p:grpSpPr>
          <a:xfrm>
            <a:off x="449264" y="339308"/>
            <a:ext cx="1800000" cy="1457718"/>
            <a:chOff x="1265341" y="2246767"/>
            <a:chExt cx="1800000" cy="145771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A62C208-2357-E20D-A917-DD5D04EF8E52}"/>
                </a:ext>
              </a:extLst>
            </p:cNvPr>
            <p:cNvSpPr/>
            <p:nvPr/>
          </p:nvSpPr>
          <p:spPr>
            <a:xfrm>
              <a:off x="1265341" y="2246767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6" name="Graphic 5" descr="Quadcopter with solid fill">
              <a:extLst>
                <a:ext uri="{FF2B5EF4-FFF2-40B4-BE49-F238E27FC236}">
                  <a16:creationId xmlns:a16="http://schemas.microsoft.com/office/drawing/2014/main" id="{F885326C-66A3-3301-BC13-A42E4A0E07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45341" y="2264485"/>
              <a:ext cx="1440000" cy="144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53D548D-1E87-F9A5-355D-35D3B45AE57E}"/>
              </a:ext>
            </a:extLst>
          </p:cNvPr>
          <p:cNvSpPr txBox="1"/>
          <p:nvPr/>
        </p:nvSpPr>
        <p:spPr>
          <a:xfrm>
            <a:off x="2429264" y="339308"/>
            <a:ext cx="20156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DRONE </a:t>
            </a:r>
          </a:p>
          <a:p>
            <a:r>
              <a:rPr lang="en-US" sz="3200" b="1" dirty="0"/>
              <a:t>DATASET</a:t>
            </a:r>
            <a:endParaRPr lang="en-PH" sz="32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D9C6D9-1CB2-D79E-7365-E8A469161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56" b="91270" l="6321" r="91874">
                        <a14:foregroundMark x1="13770" y1="7011" x2="6546" y2="32011"/>
                        <a14:foregroundMark x1="6546" y1="32011" x2="8804" y2="72487"/>
                        <a14:foregroundMark x1="91648" y1="45238" x2="92325" y2="48280"/>
                        <a14:foregroundMark x1="49661" y1="91005" x2="64560" y2="91402"/>
                        <a14:foregroundMark x1="7901" y1="5556" x2="17607" y2="5556"/>
                      </a14:backgroundRemoval>
                    </a14:imgEffect>
                  </a14:imgLayer>
                </a14:imgProps>
              </a:ext>
            </a:extLst>
          </a:blip>
          <a:srcRect b="3601"/>
          <a:stretch>
            <a:fillRect/>
          </a:stretch>
        </p:blipFill>
        <p:spPr>
          <a:xfrm>
            <a:off x="1132954" y="2182371"/>
            <a:ext cx="2396919" cy="39431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E39742-A474-50EB-D908-870CA835A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933" b="96800" l="2137" r="97721">
                        <a14:foregroundMark x1="8120" y1="45200" x2="6553" y2="57867"/>
                        <a14:foregroundMark x1="42593" y1="91867" x2="54416" y2="92400"/>
                        <a14:foregroundMark x1="92877" y1="52267" x2="91738" y2="66000"/>
                        <a14:foregroundMark x1="45014" y1="95733" x2="50142" y2="96933"/>
                        <a14:foregroundMark x1="97721" y1="56133" x2="97721" y2="61467"/>
                        <a14:foregroundMark x1="2279" y1="53733" x2="2279" y2="54667"/>
                        <a14:foregroundMark x1="38889" y1="7467" x2="52137" y2="8667"/>
                        <a14:foregroundMark x1="42593" y1="2933" x2="47293" y2="4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26266" y="2055340"/>
            <a:ext cx="3841695" cy="41043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A613AB0-A91F-B070-BB6C-79049370BE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350" b="97520" l="4604" r="98721">
                        <a14:foregroundMark x1="64578" y1="6266" x2="23657" y2="4308"/>
                        <a14:foregroundMark x1="23657" y1="4308" x2="13555" y2="7441"/>
                        <a14:foregroundMark x1="13555" y1="7441" x2="7033" y2="13316"/>
                        <a14:foregroundMark x1="7033" y1="13316" x2="1535" y2="31462"/>
                        <a14:foregroundMark x1="1535" y1="31462" x2="7161" y2="72977"/>
                        <a14:foregroundMark x1="7161" y1="72977" x2="11509" y2="83290"/>
                        <a14:foregroundMark x1="11509" y1="83290" x2="19821" y2="89556"/>
                        <a14:foregroundMark x1="19821" y1="89556" x2="69565" y2="94648"/>
                        <a14:foregroundMark x1="69565" y1="94648" x2="85678" y2="87598"/>
                        <a14:foregroundMark x1="85678" y1="87598" x2="95652" y2="70757"/>
                        <a14:foregroundMark x1="95652" y1="70757" x2="95908" y2="44256"/>
                        <a14:foregroundMark x1="95908" y1="44256" x2="89514" y2="21671"/>
                        <a14:foregroundMark x1="89514" y1="21671" x2="78900" y2="10574"/>
                        <a14:foregroundMark x1="24808" y1="6397" x2="69309" y2="16188"/>
                        <a14:foregroundMark x1="69309" y1="16188" x2="76854" y2="25587"/>
                        <a14:foregroundMark x1="73785" y1="5744" x2="90281" y2="13838"/>
                        <a14:foregroundMark x1="90281" y1="13838" x2="95013" y2="29112"/>
                        <a14:foregroundMark x1="97826" y1="67363" x2="90665" y2="89556"/>
                        <a14:foregroundMark x1="90665" y1="89556" x2="82737" y2="95953"/>
                        <a14:foregroundMark x1="82737" y1="95953" x2="73657" y2="97650"/>
                        <a14:foregroundMark x1="73657" y1="97650" x2="64194" y2="96345"/>
                        <a14:foregroundMark x1="15729" y1="92950" x2="6266" y2="80026"/>
                        <a14:foregroundMark x1="6266" y1="80026" x2="4476" y2="59399"/>
                        <a14:foregroundMark x1="4476" y1="59399" x2="7289" y2="32507"/>
                        <a14:foregroundMark x1="7289" y1="32507" x2="4987" y2="15013"/>
                        <a14:foregroundMark x1="10102" y1="2480" x2="18159" y2="3003"/>
                        <a14:foregroundMark x1="81969" y1="4961" x2="94373" y2="14621"/>
                        <a14:foregroundMark x1="91049" y1="3786" x2="95524" y2="8094"/>
                        <a14:foregroundMark x1="8312" y1="86554" x2="6138" y2="87076"/>
                        <a14:foregroundMark x1="4604" y1="87206" x2="7928" y2="88903"/>
                        <a14:foregroundMark x1="97187" y1="10836" x2="98721" y2="13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32632" y="2506832"/>
            <a:ext cx="3268259" cy="32013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3763219-7C12-D2DA-DFC1-54790D8BFCB6}"/>
              </a:ext>
            </a:extLst>
          </p:cNvPr>
          <p:cNvSpPr txBox="1"/>
          <p:nvPr/>
        </p:nvSpPr>
        <p:spPr>
          <a:xfrm>
            <a:off x="4628087" y="4510951"/>
            <a:ext cx="243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MASINLOC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3D09FB-1A15-C9A4-A3A3-F6DFA587F845}"/>
              </a:ext>
            </a:extLst>
          </p:cNvPr>
          <p:cNvSpPr txBox="1"/>
          <p:nvPr/>
        </p:nvSpPr>
        <p:spPr>
          <a:xfrm>
            <a:off x="1151418" y="4510951"/>
            <a:ext cx="243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CEBU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08A673-86EC-6AF5-DFE1-7FDA165620D1}"/>
              </a:ext>
            </a:extLst>
          </p:cNvPr>
          <p:cNvSpPr txBox="1"/>
          <p:nvPr/>
        </p:nvSpPr>
        <p:spPr>
          <a:xfrm>
            <a:off x="8847735" y="4510950"/>
            <a:ext cx="243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BOLINAO</a:t>
            </a:r>
          </a:p>
        </p:txBody>
      </p:sp>
    </p:spTree>
    <p:extLst>
      <p:ext uri="{BB962C8B-B14F-4D97-AF65-F5344CB8AC3E}">
        <p14:creationId xmlns:p14="http://schemas.microsoft.com/office/powerpoint/2010/main" val="9720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3A08-2206-ED6B-4740-E5DC3982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1F87649C-D97E-215F-7DDA-F31BD97D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57" y="3597744"/>
            <a:ext cx="2158507" cy="180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14D667-3A31-E561-D4C6-7B8BF0F0F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78" y="2470188"/>
            <a:ext cx="2144043" cy="1800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0839B4E-6CAE-AC79-A4CA-3E61128F642D}"/>
              </a:ext>
            </a:extLst>
          </p:cNvPr>
          <p:cNvGrpSpPr/>
          <p:nvPr/>
        </p:nvGrpSpPr>
        <p:grpSpPr>
          <a:xfrm>
            <a:off x="450578" y="321590"/>
            <a:ext cx="1800000" cy="1440000"/>
            <a:chOff x="7350847" y="3113952"/>
            <a:chExt cx="1800000" cy="14400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CC5F000-4E63-51C7-024B-11D37BD4F1F7}"/>
                </a:ext>
              </a:extLst>
            </p:cNvPr>
            <p:cNvSpPr/>
            <p:nvPr/>
          </p:nvSpPr>
          <p:spPr>
            <a:xfrm>
              <a:off x="7350847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1" name="Graphic 10" descr="Gears with solid fill">
              <a:extLst>
                <a:ext uri="{FF2B5EF4-FFF2-40B4-BE49-F238E27FC236}">
                  <a16:creationId xmlns:a16="http://schemas.microsoft.com/office/drawing/2014/main" id="{EFF99557-7D4F-D855-B40B-2A55BD90C6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20847" y="3239388"/>
              <a:ext cx="1260000" cy="12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99F11C-6A2E-B5BF-CA42-877098074CD2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</a:t>
            </a:r>
          </a:p>
          <a:p>
            <a:r>
              <a:rPr lang="en-US" sz="3200" b="1" dirty="0"/>
              <a:t>TRAINING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415269-851E-A45B-5B72-FED48F9C25C2}"/>
              </a:ext>
            </a:extLst>
          </p:cNvPr>
          <p:cNvSpPr/>
          <p:nvPr/>
        </p:nvSpPr>
        <p:spPr>
          <a:xfrm>
            <a:off x="1324459" y="2524752"/>
            <a:ext cx="2209608" cy="2160000"/>
          </a:xfrm>
          <a:prstGeom prst="roundRect">
            <a:avLst>
              <a:gd name="adj" fmla="val 4908"/>
            </a:avLst>
          </a:prstGeom>
          <a:noFill/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BE2445-6319-83A0-F55D-67A337A59E9F}"/>
              </a:ext>
            </a:extLst>
          </p:cNvPr>
          <p:cNvCxnSpPr/>
          <p:nvPr/>
        </p:nvCxnSpPr>
        <p:spPr>
          <a:xfrm>
            <a:off x="3728652" y="3668179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4150BE-16BF-64BD-D72F-D5AEDE7439B2}"/>
              </a:ext>
            </a:extLst>
          </p:cNvPr>
          <p:cNvSpPr txBox="1"/>
          <p:nvPr/>
        </p:nvSpPr>
        <p:spPr>
          <a:xfrm>
            <a:off x="1210237" y="3252680"/>
            <a:ext cx="2438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IMAGE </a:t>
            </a:r>
          </a:p>
          <a:p>
            <a:pPr algn="ctr"/>
            <a:r>
              <a:rPr lang="en-US" sz="2400" b="1" dirty="0"/>
              <a:t>PATCHES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92180-861F-8B2C-4AC2-4E2659655AF3}"/>
              </a:ext>
            </a:extLst>
          </p:cNvPr>
          <p:cNvSpPr txBox="1"/>
          <p:nvPr/>
        </p:nvSpPr>
        <p:spPr>
          <a:xfrm>
            <a:off x="6310332" y="4122577"/>
            <a:ext cx="2438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</a:rPr>
              <a:t>LinkNET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-EFFICIENTNET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EF7567-A449-014A-DB5C-8A0BF29D89D1}"/>
              </a:ext>
            </a:extLst>
          </p:cNvPr>
          <p:cNvCxnSpPr/>
          <p:nvPr/>
        </p:nvCxnSpPr>
        <p:spPr>
          <a:xfrm>
            <a:off x="8315606" y="3701292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9EB5FD-AF84-BC32-A092-F0174A746DFE}"/>
              </a:ext>
            </a:extLst>
          </p:cNvPr>
          <p:cNvGrpSpPr/>
          <p:nvPr/>
        </p:nvGrpSpPr>
        <p:grpSpPr>
          <a:xfrm>
            <a:off x="9304236" y="4760371"/>
            <a:ext cx="1130710" cy="909484"/>
            <a:chOff x="2556387" y="2836606"/>
            <a:chExt cx="1130710" cy="909484"/>
          </a:xfrm>
          <a:solidFill>
            <a:schemeClr val="accent6">
              <a:lumMod val="50000"/>
            </a:schemeClr>
          </a:solidFill>
        </p:grpSpPr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B42FC4E2-66B1-82E8-8DA0-51B458AA80C3}"/>
                </a:ext>
              </a:extLst>
            </p:cNvPr>
            <p:cNvSpPr/>
            <p:nvPr/>
          </p:nvSpPr>
          <p:spPr>
            <a:xfrm>
              <a:off x="2556387" y="3303639"/>
              <a:ext cx="1130710" cy="442451"/>
            </a:xfrm>
            <a:prstGeom prst="flowChartDecis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9" name="Flowchart: Decision 18">
              <a:extLst>
                <a:ext uri="{FF2B5EF4-FFF2-40B4-BE49-F238E27FC236}">
                  <a16:creationId xmlns:a16="http://schemas.microsoft.com/office/drawing/2014/main" id="{FCDC206C-0B93-1743-D3A7-6B43FED75ECE}"/>
                </a:ext>
              </a:extLst>
            </p:cNvPr>
            <p:cNvSpPr/>
            <p:nvPr/>
          </p:nvSpPr>
          <p:spPr>
            <a:xfrm>
              <a:off x="2556387" y="3082413"/>
              <a:ext cx="1130710" cy="442451"/>
            </a:xfrm>
            <a:prstGeom prst="flowChartDecis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0" name="Flowchart: Decision 19">
              <a:extLst>
                <a:ext uri="{FF2B5EF4-FFF2-40B4-BE49-F238E27FC236}">
                  <a16:creationId xmlns:a16="http://schemas.microsoft.com/office/drawing/2014/main" id="{625BC513-6C8A-D0BF-878C-79214093A690}"/>
                </a:ext>
              </a:extLst>
            </p:cNvPr>
            <p:cNvSpPr/>
            <p:nvPr/>
          </p:nvSpPr>
          <p:spPr>
            <a:xfrm>
              <a:off x="2556387" y="2836606"/>
              <a:ext cx="1130710" cy="442451"/>
            </a:xfrm>
            <a:prstGeom prst="flowChartDecis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78940B3-F011-E5B2-24BA-5995A0E04FD1}"/>
              </a:ext>
            </a:extLst>
          </p:cNvPr>
          <p:cNvSpPr txBox="1"/>
          <p:nvPr/>
        </p:nvSpPr>
        <p:spPr>
          <a:xfrm>
            <a:off x="8675606" y="5694436"/>
            <a:ext cx="2438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BINARY CLASSIFICATION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19E9CD-EDA7-31C0-8091-83477BD48403}"/>
              </a:ext>
            </a:extLst>
          </p:cNvPr>
          <p:cNvCxnSpPr/>
          <p:nvPr/>
        </p:nvCxnSpPr>
        <p:spPr>
          <a:xfrm>
            <a:off x="6152121" y="3668178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Internet Of Things with solid fill">
            <a:extLst>
              <a:ext uri="{FF2B5EF4-FFF2-40B4-BE49-F238E27FC236}">
                <a16:creationId xmlns:a16="http://schemas.microsoft.com/office/drawing/2014/main" id="{663393D8-DE12-1C4B-B40F-4128E41EF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2055" y="3027002"/>
            <a:ext cx="1245511" cy="1245511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ED4DAA-0452-D7E0-E352-56BDF04071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6459" y="4353409"/>
            <a:ext cx="36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C7FEAE1-63C8-5E0B-B7C0-37F2FE93F2F9}"/>
              </a:ext>
            </a:extLst>
          </p:cNvPr>
          <p:cNvSpPr txBox="1"/>
          <p:nvPr/>
        </p:nvSpPr>
        <p:spPr>
          <a:xfrm>
            <a:off x="4498584" y="4656104"/>
            <a:ext cx="15357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Train : 0.75 </a:t>
            </a:r>
          </a:p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Test : 0.15</a:t>
            </a:r>
          </a:p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Validation: 10 </a:t>
            </a:r>
            <a:endParaRPr lang="en-PH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F74B75-7F88-1904-DCE6-361AC2563DF9}"/>
              </a:ext>
            </a:extLst>
          </p:cNvPr>
          <p:cNvGrpSpPr/>
          <p:nvPr/>
        </p:nvGrpSpPr>
        <p:grpSpPr>
          <a:xfrm>
            <a:off x="4498584" y="3326141"/>
            <a:ext cx="1535749" cy="720002"/>
            <a:chOff x="3275303" y="3044368"/>
            <a:chExt cx="1535749" cy="72000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B4855AD-3AD4-8D54-84DD-AE583F85E2E0}"/>
                </a:ext>
              </a:extLst>
            </p:cNvPr>
            <p:cNvSpPr/>
            <p:nvPr/>
          </p:nvSpPr>
          <p:spPr>
            <a:xfrm>
              <a:off x="3324623" y="3044368"/>
              <a:ext cx="1440000" cy="72000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229B4CC-099E-D1C4-F399-61ED29160C2A}"/>
                </a:ext>
              </a:extLst>
            </p:cNvPr>
            <p:cNvSpPr txBox="1"/>
            <p:nvPr/>
          </p:nvSpPr>
          <p:spPr>
            <a:xfrm>
              <a:off x="3275303" y="3134369"/>
              <a:ext cx="1535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Split Training Dataset</a:t>
              </a:r>
              <a:endParaRPr lang="en-PH" sz="1400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380671D-5E23-2878-6FA0-844A1FF935CD}"/>
              </a:ext>
            </a:extLst>
          </p:cNvPr>
          <p:cNvGrpSpPr/>
          <p:nvPr/>
        </p:nvGrpSpPr>
        <p:grpSpPr>
          <a:xfrm>
            <a:off x="9101717" y="3326141"/>
            <a:ext cx="1535749" cy="720002"/>
            <a:chOff x="3275303" y="3044368"/>
            <a:chExt cx="1535749" cy="72000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71E448A3-9763-1E85-87A9-99D596C1D407}"/>
                </a:ext>
              </a:extLst>
            </p:cNvPr>
            <p:cNvSpPr/>
            <p:nvPr/>
          </p:nvSpPr>
          <p:spPr>
            <a:xfrm>
              <a:off x="3324623" y="3044368"/>
              <a:ext cx="1440000" cy="72000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A21720C-7817-E9AB-65C3-712ED05A9010}"/>
                </a:ext>
              </a:extLst>
            </p:cNvPr>
            <p:cNvSpPr txBox="1"/>
            <p:nvPr/>
          </p:nvSpPr>
          <p:spPr>
            <a:xfrm>
              <a:off x="3275303" y="3134369"/>
              <a:ext cx="1535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Accuracy Metrics </a:t>
              </a:r>
            </a:p>
            <a:p>
              <a:pPr algn="ctr"/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(</a:t>
              </a:r>
              <a:r>
                <a:rPr lang="en-US" sz="1400" dirty="0" err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mIoU</a:t>
              </a:r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)</a:t>
              </a:r>
              <a:endParaRPr lang="en-PH" sz="1400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058715-4DD4-F9EB-1D75-B263236584D4}"/>
              </a:ext>
            </a:extLst>
          </p:cNvPr>
          <p:cNvCxnSpPr>
            <a:cxnSpLocks/>
          </p:cNvCxnSpPr>
          <p:nvPr/>
        </p:nvCxnSpPr>
        <p:spPr>
          <a:xfrm rot="5400000">
            <a:off x="9689591" y="4403257"/>
            <a:ext cx="36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47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9630-5809-52B8-9895-A8D83FFE2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DFD2352-A026-3C00-6F2F-241EC505B902}"/>
              </a:ext>
            </a:extLst>
          </p:cNvPr>
          <p:cNvGrpSpPr/>
          <p:nvPr/>
        </p:nvGrpSpPr>
        <p:grpSpPr>
          <a:xfrm>
            <a:off x="450578" y="321590"/>
            <a:ext cx="1800000" cy="1440000"/>
            <a:chOff x="7350847" y="3113952"/>
            <a:chExt cx="1800000" cy="14400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9108650-3446-C9EB-3643-0FF416E3DE2E}"/>
                </a:ext>
              </a:extLst>
            </p:cNvPr>
            <p:cNvSpPr/>
            <p:nvPr/>
          </p:nvSpPr>
          <p:spPr>
            <a:xfrm>
              <a:off x="7350847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pic>
          <p:nvPicPr>
            <p:cNvPr id="11" name="Graphic 10" descr="Gears with solid fill">
              <a:extLst>
                <a:ext uri="{FF2B5EF4-FFF2-40B4-BE49-F238E27FC236}">
                  <a16:creationId xmlns:a16="http://schemas.microsoft.com/office/drawing/2014/main" id="{39515F4D-8A7F-51DE-F4C8-17B2BBDADE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20847" y="3239388"/>
              <a:ext cx="1260000" cy="12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4E13A19-77D2-9926-36B3-DD5C0C3DBD10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</a:t>
            </a:r>
          </a:p>
          <a:p>
            <a:r>
              <a:rPr lang="en-US" sz="3200" b="1" dirty="0"/>
              <a:t>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B8C55-9C50-D498-0E61-420E9694E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642117"/>
            <a:ext cx="7015364" cy="5876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BE50F9-FF6A-91E0-0896-520B5F07F457}"/>
              </a:ext>
            </a:extLst>
          </p:cNvPr>
          <p:cNvSpPr txBox="1"/>
          <p:nvPr/>
        </p:nvSpPr>
        <p:spPr>
          <a:xfrm>
            <a:off x="524833" y="2337950"/>
            <a:ext cx="112542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METRICS 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Best Epoch: 38</a:t>
            </a:r>
          </a:p>
          <a:p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</a:rPr>
              <a:t>IoU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 : 0.8620</a:t>
            </a: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DICE Coef: 0.9150</a:t>
            </a: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Pixel Acc: 0.9298</a:t>
            </a:r>
          </a:p>
          <a:p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PH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8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F324-630D-A5D8-23BA-80D7480D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40D79C7-4562-1BEB-F671-CA658D90BD4D}"/>
              </a:ext>
            </a:extLst>
          </p:cNvPr>
          <p:cNvGrpSpPr/>
          <p:nvPr/>
        </p:nvGrpSpPr>
        <p:grpSpPr>
          <a:xfrm>
            <a:off x="450578" y="321590"/>
            <a:ext cx="1800000" cy="1440000"/>
            <a:chOff x="9683433" y="3113952"/>
            <a:chExt cx="1800000" cy="1440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8920AE7-7890-561C-DCD7-14FD7CB1EF5A}"/>
                </a:ext>
              </a:extLst>
            </p:cNvPr>
            <p:cNvSpPr/>
            <p:nvPr/>
          </p:nvSpPr>
          <p:spPr>
            <a:xfrm>
              <a:off x="9683433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Rectangle 5" descr="Head with Gears">
              <a:extLst>
                <a:ext uri="{FF2B5EF4-FFF2-40B4-BE49-F238E27FC236}">
                  <a16:creationId xmlns:a16="http://schemas.microsoft.com/office/drawing/2014/main" id="{31AA53BB-A552-28C1-8C47-85F5C3AB12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39099" y="3293952"/>
              <a:ext cx="1080000" cy="108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PH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E76286D-25D3-2362-E73E-BEDC7A8FBB8B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</a:t>
            </a:r>
          </a:p>
          <a:p>
            <a:r>
              <a:rPr lang="en-US" sz="3200" b="1" dirty="0"/>
              <a:t>INFERENCE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9BBEBD-1FDC-BB6B-EEE7-0EEB941DEC7C}"/>
              </a:ext>
            </a:extLst>
          </p:cNvPr>
          <p:cNvGrpSpPr/>
          <p:nvPr/>
        </p:nvGrpSpPr>
        <p:grpSpPr>
          <a:xfrm>
            <a:off x="2688969" y="2328938"/>
            <a:ext cx="1130710" cy="909484"/>
            <a:chOff x="2556387" y="2836606"/>
            <a:chExt cx="1130710" cy="909484"/>
          </a:xfrm>
          <a:solidFill>
            <a:schemeClr val="accent6">
              <a:lumMod val="50000"/>
            </a:schemeClr>
          </a:solidFill>
        </p:grpSpPr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E54C44B7-C679-848E-1D47-36CBECC334F9}"/>
                </a:ext>
              </a:extLst>
            </p:cNvPr>
            <p:cNvSpPr/>
            <p:nvPr/>
          </p:nvSpPr>
          <p:spPr>
            <a:xfrm>
              <a:off x="2556387" y="3303639"/>
              <a:ext cx="1130710" cy="442451"/>
            </a:xfrm>
            <a:prstGeom prst="flowChartDecis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3" name="Flowchart: Decision 12">
              <a:extLst>
                <a:ext uri="{FF2B5EF4-FFF2-40B4-BE49-F238E27FC236}">
                  <a16:creationId xmlns:a16="http://schemas.microsoft.com/office/drawing/2014/main" id="{1EE9A7D4-4C91-4126-A993-3BA3A5F56F33}"/>
                </a:ext>
              </a:extLst>
            </p:cNvPr>
            <p:cNvSpPr/>
            <p:nvPr/>
          </p:nvSpPr>
          <p:spPr>
            <a:xfrm>
              <a:off x="2556387" y="3082413"/>
              <a:ext cx="1130710" cy="442451"/>
            </a:xfrm>
            <a:prstGeom prst="flowChartDecis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4" name="Flowchart: Decision 13">
              <a:extLst>
                <a:ext uri="{FF2B5EF4-FFF2-40B4-BE49-F238E27FC236}">
                  <a16:creationId xmlns:a16="http://schemas.microsoft.com/office/drawing/2014/main" id="{CF426ED5-59CB-E7BA-6FBA-99AEBCF6AAA9}"/>
                </a:ext>
              </a:extLst>
            </p:cNvPr>
            <p:cNvSpPr/>
            <p:nvPr/>
          </p:nvSpPr>
          <p:spPr>
            <a:xfrm>
              <a:off x="2556387" y="2836606"/>
              <a:ext cx="1130710" cy="442451"/>
            </a:xfrm>
            <a:prstGeom prst="flowChartDecis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3F9FC91-6EEF-4703-E49B-84C737B97AB9}"/>
              </a:ext>
            </a:extLst>
          </p:cNvPr>
          <p:cNvSpPr/>
          <p:nvPr/>
        </p:nvSpPr>
        <p:spPr>
          <a:xfrm>
            <a:off x="2080238" y="3282917"/>
            <a:ext cx="2370422" cy="399940"/>
          </a:xfrm>
          <a:custGeom>
            <a:avLst/>
            <a:gdLst>
              <a:gd name="connsiteX0" fmla="*/ 0 w 2370422"/>
              <a:gd name="connsiteY0" fmla="*/ 0 h 720000"/>
              <a:gd name="connsiteX1" fmla="*/ 2370422 w 2370422"/>
              <a:gd name="connsiteY1" fmla="*/ 0 h 720000"/>
              <a:gd name="connsiteX2" fmla="*/ 2370422 w 2370422"/>
              <a:gd name="connsiteY2" fmla="*/ 720000 h 720000"/>
              <a:gd name="connsiteX3" fmla="*/ 0 w 2370422"/>
              <a:gd name="connsiteY3" fmla="*/ 720000 h 720000"/>
              <a:gd name="connsiteX4" fmla="*/ 0 w 2370422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0422" h="720000">
                <a:moveTo>
                  <a:pt x="0" y="0"/>
                </a:moveTo>
                <a:lnTo>
                  <a:pt x="2370422" y="0"/>
                </a:lnTo>
                <a:lnTo>
                  <a:pt x="2370422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accent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accen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accent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2000" kern="1200" dirty="0">
                <a:solidFill>
                  <a:schemeClr val="accent6">
                    <a:lumMod val="50000"/>
                  </a:schemeClr>
                </a:solidFill>
              </a:rPr>
              <a:t>Drone IMAGES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199271-4246-EED7-F2BA-3BA38554BB00}"/>
              </a:ext>
            </a:extLst>
          </p:cNvPr>
          <p:cNvSpPr/>
          <p:nvPr/>
        </p:nvSpPr>
        <p:spPr>
          <a:xfrm>
            <a:off x="4308027" y="3699548"/>
            <a:ext cx="1440000" cy="72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CE320-0629-EDE3-0C5A-083C296E94F6}"/>
              </a:ext>
            </a:extLst>
          </p:cNvPr>
          <p:cNvSpPr txBox="1"/>
          <p:nvPr/>
        </p:nvSpPr>
        <p:spPr>
          <a:xfrm>
            <a:off x="4255056" y="3916209"/>
            <a:ext cx="1535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Predict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16DB1D9-440C-1538-0A46-40B6B5EAEF12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107290" y="2795971"/>
            <a:ext cx="920737" cy="903577"/>
          </a:xfrm>
          <a:prstGeom prst="bentConnector2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125A3A-ACAC-5804-3914-53FD3A8999CD}"/>
              </a:ext>
            </a:extLst>
          </p:cNvPr>
          <p:cNvCxnSpPr/>
          <p:nvPr/>
        </p:nvCxnSpPr>
        <p:spPr>
          <a:xfrm>
            <a:off x="5845448" y="4070097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B6A558D-CBA6-02B7-E0B0-5389ADEA5FB5}"/>
              </a:ext>
            </a:extLst>
          </p:cNvPr>
          <p:cNvCxnSpPr>
            <a:cxnSpLocks/>
          </p:cNvCxnSpPr>
          <p:nvPr/>
        </p:nvCxnSpPr>
        <p:spPr>
          <a:xfrm flipV="1">
            <a:off x="4107290" y="4436239"/>
            <a:ext cx="920737" cy="903577"/>
          </a:xfrm>
          <a:prstGeom prst="bentConnector2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Internet Of Things with solid fill">
            <a:extLst>
              <a:ext uri="{FF2B5EF4-FFF2-40B4-BE49-F238E27FC236}">
                <a16:creationId xmlns:a16="http://schemas.microsoft.com/office/drawing/2014/main" id="{B82A7E68-2587-B6C9-CE4F-4CD470F67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2693" y="4732475"/>
            <a:ext cx="1245511" cy="12455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BE5161-5FDE-D755-09B3-C760738125B3}"/>
              </a:ext>
            </a:extLst>
          </p:cNvPr>
          <p:cNvSpPr/>
          <p:nvPr/>
        </p:nvSpPr>
        <p:spPr>
          <a:xfrm>
            <a:off x="2069113" y="6049926"/>
            <a:ext cx="2370422" cy="399940"/>
          </a:xfrm>
          <a:custGeom>
            <a:avLst/>
            <a:gdLst>
              <a:gd name="connsiteX0" fmla="*/ 0 w 2370422"/>
              <a:gd name="connsiteY0" fmla="*/ 0 h 720000"/>
              <a:gd name="connsiteX1" fmla="*/ 2370422 w 2370422"/>
              <a:gd name="connsiteY1" fmla="*/ 0 h 720000"/>
              <a:gd name="connsiteX2" fmla="*/ 2370422 w 2370422"/>
              <a:gd name="connsiteY2" fmla="*/ 720000 h 720000"/>
              <a:gd name="connsiteX3" fmla="*/ 0 w 2370422"/>
              <a:gd name="connsiteY3" fmla="*/ 720000 h 720000"/>
              <a:gd name="connsiteX4" fmla="*/ 0 w 2370422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0422" h="720000">
                <a:moveTo>
                  <a:pt x="0" y="0"/>
                </a:moveTo>
                <a:lnTo>
                  <a:pt x="2370422" y="0"/>
                </a:lnTo>
                <a:lnTo>
                  <a:pt x="2370422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accent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accent2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accent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n-US" sz="2000" kern="1200" dirty="0">
                <a:solidFill>
                  <a:schemeClr val="accent6">
                    <a:lumMod val="50000"/>
                  </a:schemeClr>
                </a:solidFill>
              </a:rPr>
              <a:t>MODEL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40738B-5AFD-ECDA-DBD4-833165B73EE2}"/>
              </a:ext>
            </a:extLst>
          </p:cNvPr>
          <p:cNvGrpSpPr/>
          <p:nvPr/>
        </p:nvGrpSpPr>
        <p:grpSpPr>
          <a:xfrm>
            <a:off x="7055079" y="2202917"/>
            <a:ext cx="2209608" cy="2160000"/>
            <a:chOff x="1003848" y="776735"/>
            <a:chExt cx="2209608" cy="216000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A1CAE4B-5C08-D24D-1B51-8B5927748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848" y="776735"/>
              <a:ext cx="2209608" cy="216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E8B7675-EF0C-2F99-D52C-E190E7CFE8F8}"/>
                </a:ext>
              </a:extLst>
            </p:cNvPr>
            <p:cNvSpPr/>
            <p:nvPr/>
          </p:nvSpPr>
          <p:spPr>
            <a:xfrm>
              <a:off x="1003848" y="776735"/>
              <a:ext cx="2209608" cy="2160000"/>
            </a:xfrm>
            <a:prstGeom prst="roundRect">
              <a:avLst>
                <a:gd name="adj" fmla="val 4908"/>
              </a:avLst>
            </a:prstGeom>
            <a:noFill/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55F3F4-67FF-8593-7D49-9FF9F9388030}"/>
              </a:ext>
            </a:extLst>
          </p:cNvPr>
          <p:cNvGrpSpPr/>
          <p:nvPr/>
        </p:nvGrpSpPr>
        <p:grpSpPr>
          <a:xfrm>
            <a:off x="8263427" y="3377353"/>
            <a:ext cx="2254190" cy="2174806"/>
            <a:chOff x="4002912" y="761447"/>
            <a:chExt cx="2254190" cy="217480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2043EC2-B2A6-C1E7-3A8F-DDC91CF28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47494" y="777216"/>
              <a:ext cx="2209608" cy="2159037"/>
            </a:xfrm>
            <a:prstGeom prst="rect">
              <a:avLst/>
            </a:prstGeom>
            <a:ln>
              <a:noFill/>
            </a:ln>
          </p:spPr>
        </p:pic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171E3C49-0888-B901-3330-5BC6EA0B872A}"/>
                </a:ext>
              </a:extLst>
            </p:cNvPr>
            <p:cNvSpPr/>
            <p:nvPr/>
          </p:nvSpPr>
          <p:spPr>
            <a:xfrm>
              <a:off x="4002912" y="761447"/>
              <a:ext cx="2209608" cy="2160000"/>
            </a:xfrm>
            <a:prstGeom prst="roundRect">
              <a:avLst>
                <a:gd name="adj" fmla="val 4908"/>
              </a:avLst>
            </a:prstGeom>
            <a:noFill/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798667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3F99A-88DA-F30A-81B8-8C41D66F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B823FE-2790-69A8-9EA2-454ADE888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9"/>
          <a:stretch>
            <a:fillRect/>
          </a:stretch>
        </p:blipFill>
        <p:spPr>
          <a:xfrm>
            <a:off x="2782444" y="1425158"/>
            <a:ext cx="7456931" cy="543284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6C319F4-9025-8FF9-B4DB-9BE34DC7D1A5}"/>
              </a:ext>
            </a:extLst>
          </p:cNvPr>
          <p:cNvGrpSpPr/>
          <p:nvPr/>
        </p:nvGrpSpPr>
        <p:grpSpPr>
          <a:xfrm>
            <a:off x="450578" y="321590"/>
            <a:ext cx="1800000" cy="1440000"/>
            <a:chOff x="9683433" y="3113952"/>
            <a:chExt cx="1800000" cy="1440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DAF0247-F21C-88C7-2BB2-648085F9D43C}"/>
                </a:ext>
              </a:extLst>
            </p:cNvPr>
            <p:cNvSpPr/>
            <p:nvPr/>
          </p:nvSpPr>
          <p:spPr>
            <a:xfrm>
              <a:off x="9683433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Rectangle 5" descr="Head with Gears">
              <a:extLst>
                <a:ext uri="{FF2B5EF4-FFF2-40B4-BE49-F238E27FC236}">
                  <a16:creationId xmlns:a16="http://schemas.microsoft.com/office/drawing/2014/main" id="{DDA55D1D-94BE-5ECB-A29B-37DE5D02F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39099" y="3293952"/>
              <a:ext cx="1080000" cy="108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PH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0988537-A46D-8155-716E-A2E302ECFC6A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</a:t>
            </a:r>
          </a:p>
          <a:p>
            <a:r>
              <a:rPr lang="en-US" sz="3200" b="1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432305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77EF9-1538-99B2-DEAA-104C92F2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349A96-4121-38BF-A8C3-D84510652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31"/>
          <a:stretch>
            <a:fillRect/>
          </a:stretch>
        </p:blipFill>
        <p:spPr>
          <a:xfrm>
            <a:off x="2782444" y="1343024"/>
            <a:ext cx="7436500" cy="55149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2D51C39-DFED-0E01-A54D-BF5820BCFCCB}"/>
              </a:ext>
            </a:extLst>
          </p:cNvPr>
          <p:cNvGrpSpPr/>
          <p:nvPr/>
        </p:nvGrpSpPr>
        <p:grpSpPr>
          <a:xfrm>
            <a:off x="450578" y="321590"/>
            <a:ext cx="1800000" cy="1440000"/>
            <a:chOff x="9683433" y="3113952"/>
            <a:chExt cx="1800000" cy="1440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A215BB0-2DC7-82B2-5EEE-D1BCDDE2B581}"/>
                </a:ext>
              </a:extLst>
            </p:cNvPr>
            <p:cNvSpPr/>
            <p:nvPr/>
          </p:nvSpPr>
          <p:spPr>
            <a:xfrm>
              <a:off x="9683433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Rectangle 5" descr="Head with Gears">
              <a:extLst>
                <a:ext uri="{FF2B5EF4-FFF2-40B4-BE49-F238E27FC236}">
                  <a16:creationId xmlns:a16="http://schemas.microsoft.com/office/drawing/2014/main" id="{EDD388D0-3A14-F325-8C04-C7266057B9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39099" y="3293952"/>
              <a:ext cx="1080000" cy="108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PH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0F27190-8AD1-8943-EDB0-90854EBF0CFA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</a:t>
            </a:r>
          </a:p>
          <a:p>
            <a:r>
              <a:rPr lang="en-US" sz="3200" b="1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241230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7DDE-329C-BD6E-45AD-DE7A0DA8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E5F9A71-D9D1-2AB6-5AA2-3516209DCA51}"/>
              </a:ext>
            </a:extLst>
          </p:cNvPr>
          <p:cNvGrpSpPr/>
          <p:nvPr/>
        </p:nvGrpSpPr>
        <p:grpSpPr>
          <a:xfrm>
            <a:off x="450578" y="321590"/>
            <a:ext cx="1800000" cy="1440000"/>
            <a:chOff x="9683433" y="3113952"/>
            <a:chExt cx="1800000" cy="14400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7BBEE96-DE45-561C-5219-E85B27C1EFED}"/>
                </a:ext>
              </a:extLst>
            </p:cNvPr>
            <p:cNvSpPr/>
            <p:nvPr/>
          </p:nvSpPr>
          <p:spPr>
            <a:xfrm>
              <a:off x="9683433" y="3113952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Rectangle 5" descr="Head with Gears">
              <a:extLst>
                <a:ext uri="{FF2B5EF4-FFF2-40B4-BE49-F238E27FC236}">
                  <a16:creationId xmlns:a16="http://schemas.microsoft.com/office/drawing/2014/main" id="{996423C0-BC23-A2E6-1097-99F4E66028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39099" y="3293952"/>
              <a:ext cx="1080000" cy="108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PH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520D61D-FBFB-E4E0-92FB-8838DEEEAEC0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 </a:t>
            </a:r>
          </a:p>
          <a:p>
            <a:r>
              <a:rPr lang="en-US" sz="3200" b="1" dirty="0"/>
              <a:t>INFERENCE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55E8F-8838-238C-E3C0-61A7B5DF7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98" y="1416526"/>
            <a:ext cx="3802182" cy="51751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362C84-34DF-91CC-471E-84A493CEA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56" b="91270" l="6321" r="91874">
                        <a14:foregroundMark x1="13770" y1="7011" x2="6546" y2="32011"/>
                        <a14:foregroundMark x1="6546" y1="32011" x2="8804" y2="72487"/>
                        <a14:foregroundMark x1="91648" y1="45238" x2="92325" y2="48280"/>
                        <a14:foregroundMark x1="49661" y1="91005" x2="64560" y2="91402"/>
                        <a14:foregroundMark x1="7901" y1="5556" x2="17607" y2="5556"/>
                      </a14:backgroundRemoval>
                    </a14:imgEffect>
                  </a14:imgLayer>
                </a14:imgProps>
              </a:ext>
            </a:extLst>
          </a:blip>
          <a:srcRect b="3601"/>
          <a:stretch>
            <a:fillRect/>
          </a:stretch>
        </p:blipFill>
        <p:spPr>
          <a:xfrm>
            <a:off x="2641714" y="2032558"/>
            <a:ext cx="2396919" cy="394312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E00B6C-43D1-ADD0-553F-54BEE8FE7136}"/>
              </a:ext>
            </a:extLst>
          </p:cNvPr>
          <p:cNvCxnSpPr/>
          <p:nvPr/>
        </p:nvCxnSpPr>
        <p:spPr>
          <a:xfrm>
            <a:off x="5447914" y="3964216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784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4683-6C64-2E66-E3B8-27F6B3CB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FB2B7E0C-A55B-D37B-8B79-70CBE4CBADE9}"/>
              </a:ext>
            </a:extLst>
          </p:cNvPr>
          <p:cNvSpPr/>
          <p:nvPr/>
        </p:nvSpPr>
        <p:spPr>
          <a:xfrm>
            <a:off x="4965290" y="5118429"/>
            <a:ext cx="1130710" cy="442451"/>
          </a:xfrm>
          <a:prstGeom prst="flowChartDecisio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B388A2-6705-84B3-1686-EF9FE404F6E4}"/>
              </a:ext>
            </a:extLst>
          </p:cNvPr>
          <p:cNvGrpSpPr/>
          <p:nvPr/>
        </p:nvGrpSpPr>
        <p:grpSpPr>
          <a:xfrm>
            <a:off x="450578" y="339308"/>
            <a:ext cx="1800000" cy="1440000"/>
            <a:chOff x="7130014" y="2844588"/>
            <a:chExt cx="1800000" cy="14400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F6B6E70-EDB6-C136-A8AF-0CDA8BC19A36}"/>
                </a:ext>
              </a:extLst>
            </p:cNvPr>
            <p:cNvSpPr/>
            <p:nvPr/>
          </p:nvSpPr>
          <p:spPr>
            <a:xfrm>
              <a:off x="7130014" y="2844588"/>
              <a:ext cx="1800000" cy="144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C82099B-1E90-033C-BFA8-3CF250D084C8}"/>
                </a:ext>
              </a:extLst>
            </p:cNvPr>
            <p:cNvGrpSpPr/>
            <p:nvPr/>
          </p:nvGrpSpPr>
          <p:grpSpPr>
            <a:xfrm>
              <a:off x="7645007" y="3174873"/>
              <a:ext cx="770014" cy="708557"/>
              <a:chOff x="7280787" y="4348041"/>
              <a:chExt cx="770014" cy="708557"/>
            </a:xfrm>
          </p:grpSpPr>
          <p:pic>
            <p:nvPicPr>
              <p:cNvPr id="10" name="Graphic 9" descr="Stop with solid fill">
                <a:extLst>
                  <a:ext uri="{FF2B5EF4-FFF2-40B4-BE49-F238E27FC236}">
                    <a16:creationId xmlns:a16="http://schemas.microsoft.com/office/drawing/2014/main" id="{7B3CC22F-FD95-CF66-31C9-4F17BBD6E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280787" y="4348041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1" name="Graphic 10" descr="Stop with solid fill">
                <a:extLst>
                  <a:ext uri="{FF2B5EF4-FFF2-40B4-BE49-F238E27FC236}">
                    <a16:creationId xmlns:a16="http://schemas.microsoft.com/office/drawing/2014/main" id="{5DC71637-9EAF-6B39-B911-72A4C2559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690801" y="4348041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2" name="Graphic 11" descr="Stop with solid fill">
                <a:extLst>
                  <a:ext uri="{FF2B5EF4-FFF2-40B4-BE49-F238E27FC236}">
                    <a16:creationId xmlns:a16="http://schemas.microsoft.com/office/drawing/2014/main" id="{47462361-4395-F6F3-89AC-A25D169F25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280787" y="469659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3" name="Graphic 12" descr="Stop with solid fill">
                <a:extLst>
                  <a:ext uri="{FF2B5EF4-FFF2-40B4-BE49-F238E27FC236}">
                    <a16:creationId xmlns:a16="http://schemas.microsoft.com/office/drawing/2014/main" id="{8D6D2D15-E102-FC82-C356-440FB65E8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690801" y="4696598"/>
                <a:ext cx="360000" cy="360000"/>
              </a:xfrm>
              <a:prstGeom prst="rect">
                <a:avLst/>
              </a:prstGeom>
            </p:spPr>
          </p:pic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FD98FC-80E0-CBB3-42D5-F2DF8B1C91BF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GRID </a:t>
            </a:r>
          </a:p>
          <a:p>
            <a:r>
              <a:rPr lang="en-US" sz="3200" b="1" dirty="0"/>
              <a:t>CREATION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46F662-A6B5-00CB-8924-A3D815C08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61" y="2781301"/>
            <a:ext cx="2500817" cy="214526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C9EAAC-C7A7-078C-9797-6F736DD789D7}"/>
              </a:ext>
            </a:extLst>
          </p:cNvPr>
          <p:cNvCxnSpPr/>
          <p:nvPr/>
        </p:nvCxnSpPr>
        <p:spPr>
          <a:xfrm>
            <a:off x="3854360" y="3982504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AA86DD-42C4-34DA-8570-76E35B518885}"/>
              </a:ext>
            </a:extLst>
          </p:cNvPr>
          <p:cNvSpPr txBox="1"/>
          <p:nvPr/>
        </p:nvSpPr>
        <p:spPr>
          <a:xfrm>
            <a:off x="1095461" y="4926566"/>
            <a:ext cx="243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DRONE IMAGE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26D080-2680-D862-91F6-15A4F09892B3}"/>
              </a:ext>
            </a:extLst>
          </p:cNvPr>
          <p:cNvGrpSpPr/>
          <p:nvPr/>
        </p:nvGrpSpPr>
        <p:grpSpPr>
          <a:xfrm>
            <a:off x="4727184" y="3622503"/>
            <a:ext cx="1535749" cy="720002"/>
            <a:chOff x="3275303" y="3044368"/>
            <a:chExt cx="1535749" cy="72000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96344FA-0E03-D781-3CB2-BB9CC7F79BB0}"/>
                </a:ext>
              </a:extLst>
            </p:cNvPr>
            <p:cNvSpPr/>
            <p:nvPr/>
          </p:nvSpPr>
          <p:spPr>
            <a:xfrm>
              <a:off x="3324623" y="3044368"/>
              <a:ext cx="1440000" cy="72000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E235386-BE0E-751B-1AC7-D1C84685636C}"/>
                </a:ext>
              </a:extLst>
            </p:cNvPr>
            <p:cNvSpPr txBox="1"/>
            <p:nvPr/>
          </p:nvSpPr>
          <p:spPr>
            <a:xfrm>
              <a:off x="3275303" y="3134369"/>
              <a:ext cx="1535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GEE (Create GRID)</a:t>
              </a:r>
              <a:endParaRPr lang="en-PH" sz="1400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DEFBEC-F158-DDEA-B6A5-3442244AE7BB}"/>
              </a:ext>
            </a:extLst>
          </p:cNvPr>
          <p:cNvCxnSpPr/>
          <p:nvPr/>
        </p:nvCxnSpPr>
        <p:spPr>
          <a:xfrm>
            <a:off x="6426110" y="3974114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5F21E2-9417-A8D9-B97E-3AB3417E871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14192" y="4629634"/>
            <a:ext cx="36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076757-386B-0A9F-E71B-F54A77F786A5}"/>
              </a:ext>
            </a:extLst>
          </p:cNvPr>
          <p:cNvSpPr txBox="1"/>
          <p:nvPr/>
        </p:nvSpPr>
        <p:spPr>
          <a:xfrm>
            <a:off x="4776504" y="4900462"/>
            <a:ext cx="1535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Sentinel-2 Composite</a:t>
            </a:r>
            <a:endParaRPr lang="en-PH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5AF21E0-9E5A-E954-D6F2-514CCD0D5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479" y="2490404"/>
            <a:ext cx="4186000" cy="296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6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5C19-A887-8AF0-4819-7D3C3676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A44E49-A92F-CA56-9D06-AEDFA39366B8}"/>
              </a:ext>
            </a:extLst>
          </p:cNvPr>
          <p:cNvSpPr/>
          <p:nvPr/>
        </p:nvSpPr>
        <p:spPr>
          <a:xfrm>
            <a:off x="450578" y="339308"/>
            <a:ext cx="1800000" cy="1440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2CAB2-B717-1B0E-6A2B-ACE4A1622145}"/>
              </a:ext>
            </a:extLst>
          </p:cNvPr>
          <p:cNvSpPr txBox="1"/>
          <p:nvPr/>
        </p:nvSpPr>
        <p:spPr>
          <a:xfrm>
            <a:off x="2429263" y="339308"/>
            <a:ext cx="3470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PERCENT COVER</a:t>
            </a:r>
          </a:p>
          <a:p>
            <a:r>
              <a:rPr lang="en-US" sz="3200" b="1" dirty="0"/>
              <a:t>CALCULATION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C018EA-41D2-0366-13E6-FE4FF2D61210}"/>
              </a:ext>
            </a:extLst>
          </p:cNvPr>
          <p:cNvCxnSpPr/>
          <p:nvPr/>
        </p:nvCxnSpPr>
        <p:spPr>
          <a:xfrm>
            <a:off x="3450036" y="3529519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21E347-2ACD-37D7-795D-987C6CF54932}"/>
              </a:ext>
            </a:extLst>
          </p:cNvPr>
          <p:cNvGrpSpPr/>
          <p:nvPr/>
        </p:nvGrpSpPr>
        <p:grpSpPr>
          <a:xfrm>
            <a:off x="4355366" y="3169518"/>
            <a:ext cx="1535749" cy="720002"/>
            <a:chOff x="3307809" y="3044368"/>
            <a:chExt cx="1535749" cy="72000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9A8A2EF-59C9-3A9C-D510-6E808877B0DA}"/>
                </a:ext>
              </a:extLst>
            </p:cNvPr>
            <p:cNvSpPr/>
            <p:nvPr/>
          </p:nvSpPr>
          <p:spPr>
            <a:xfrm>
              <a:off x="3324623" y="3044368"/>
              <a:ext cx="1440000" cy="72000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A8B0AD-25AA-E22A-2C74-BFD8C48DD11B}"/>
                </a:ext>
              </a:extLst>
            </p:cNvPr>
            <p:cNvSpPr txBox="1"/>
            <p:nvPr/>
          </p:nvSpPr>
          <p:spPr>
            <a:xfrm>
              <a:off x="3307809" y="3142759"/>
              <a:ext cx="1535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Calculate Pixel No. [0 &amp; 1]</a:t>
              </a:r>
              <a:endParaRPr lang="en-PH" sz="1400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0C4F0A-F50D-9709-71F5-B155F22D98D5}"/>
              </a:ext>
            </a:extLst>
          </p:cNvPr>
          <p:cNvCxnSpPr/>
          <p:nvPr/>
        </p:nvCxnSpPr>
        <p:spPr>
          <a:xfrm>
            <a:off x="6021786" y="3521129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Seaweed with solid fill">
            <a:extLst>
              <a:ext uri="{FF2B5EF4-FFF2-40B4-BE49-F238E27FC236}">
                <a16:creationId xmlns:a16="http://schemas.microsoft.com/office/drawing/2014/main" id="{260EBD20-8FFB-1D36-4604-51C072B45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2436" y="581166"/>
            <a:ext cx="956283" cy="956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596C42-D193-8DB8-21AC-26E34231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6" y="2252883"/>
            <a:ext cx="3110656" cy="263378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8CF068B-3657-E871-F578-D8D293B44A12}"/>
              </a:ext>
            </a:extLst>
          </p:cNvPr>
          <p:cNvGrpSpPr/>
          <p:nvPr/>
        </p:nvGrpSpPr>
        <p:grpSpPr>
          <a:xfrm>
            <a:off x="6849156" y="3161128"/>
            <a:ext cx="1535749" cy="720002"/>
            <a:chOff x="3307809" y="3044368"/>
            <a:chExt cx="1535749" cy="72000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0F8709B-83F2-5BE8-D2D0-8C2256A65D67}"/>
                </a:ext>
              </a:extLst>
            </p:cNvPr>
            <p:cNvSpPr/>
            <p:nvPr/>
          </p:nvSpPr>
          <p:spPr>
            <a:xfrm>
              <a:off x="3324623" y="3044368"/>
              <a:ext cx="1440000" cy="72000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A0FF5B-9763-12D3-3B3D-0FB6233C9359}"/>
                </a:ext>
              </a:extLst>
            </p:cNvPr>
            <p:cNvSpPr txBox="1"/>
            <p:nvPr/>
          </p:nvSpPr>
          <p:spPr>
            <a:xfrm>
              <a:off x="3307809" y="3142759"/>
              <a:ext cx="1535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Calculate Percent Cover</a:t>
              </a:r>
              <a:endParaRPr lang="en-PH" sz="1400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83B0FCAB-B8DC-6FB6-0CE1-0A016DC29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250" y="2347363"/>
            <a:ext cx="2744053" cy="2364311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33C499-41BE-A130-B9B2-C73801A23F44}"/>
              </a:ext>
            </a:extLst>
          </p:cNvPr>
          <p:cNvCxnSpPr/>
          <p:nvPr/>
        </p:nvCxnSpPr>
        <p:spPr>
          <a:xfrm>
            <a:off x="8504063" y="3529519"/>
            <a:ext cx="720000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oval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0D0B143C-23EA-FDC9-6306-F58150264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3269" y="2347363"/>
            <a:ext cx="608034" cy="845720"/>
          </a:xfrm>
          <a:prstGeom prst="rect">
            <a:avLst/>
          </a:prstGeom>
        </p:spPr>
      </p:pic>
      <p:pic>
        <p:nvPicPr>
          <p:cNvPr id="2" name="Picture 1" descr="File:Python logo and wordmark.svg - Wikimedia Commons">
            <a:extLst>
              <a:ext uri="{FF2B5EF4-FFF2-40B4-BE49-F238E27FC236}">
                <a16:creationId xmlns:a16="http://schemas.microsoft.com/office/drawing/2014/main" id="{E121E469-3C5A-3E60-4573-5EAD4B2A08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4231175"/>
            <a:ext cx="3245584" cy="9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40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103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Segoe UI</vt:lpstr>
      <vt:lpstr>Office Theme</vt:lpstr>
      <vt:lpstr>Seagrass Cover using Drone Imagery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Candido</dc:creator>
  <cp:lastModifiedBy>Christian Candido</cp:lastModifiedBy>
  <cp:revision>3</cp:revision>
  <dcterms:created xsi:type="dcterms:W3CDTF">2025-12-19T00:35:17Z</dcterms:created>
  <dcterms:modified xsi:type="dcterms:W3CDTF">2026-05-02T18:34:19Z</dcterms:modified>
</cp:coreProperties>
</file>